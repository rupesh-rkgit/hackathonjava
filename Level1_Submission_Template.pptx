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2" r:id="rId4"/>
    <p:sldId id="273" r:id="rId5"/>
    <p:sldId id="271" r:id="rId6"/>
    <p:sldId id="263" r:id="rId7"/>
    <p:sldId id="260" r:id="rId8"/>
    <p:sldId id="264" r:id="rId9"/>
    <p:sldId id="258" r:id="rId10"/>
    <p:sldId id="265" r:id="rId11"/>
    <p:sldId id="259" r:id="rId12"/>
    <p:sldId id="266" r:id="rId13"/>
    <p:sldId id="261" r:id="rId14"/>
    <p:sldId id="267" r:id="rId15"/>
    <p:sldId id="262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D1660-6FF8-4C0B-A73B-A8C289DCF96F}" v="10" dt="2026-04-27T04:10:36.8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anasekar, Divya" userId="a38de293-5d8c-4349-9b9c-6d229d6993a8" providerId="ADAL" clId="{29F68EF0-9277-4D3E-BC51-6DC911C255AF}"/>
    <pc:docChg chg="modSld">
      <pc:chgData name="Madhanasekar, Divya" userId="a38de293-5d8c-4349-9b9c-6d229d6993a8" providerId="ADAL" clId="{29F68EF0-9277-4D3E-BC51-6DC911C255AF}" dt="2026-04-27T04:10:36.816" v="9" actId="20577"/>
      <pc:docMkLst>
        <pc:docMk/>
      </pc:docMkLst>
      <pc:sldChg chg="modSp">
        <pc:chgData name="Madhanasekar, Divya" userId="a38de293-5d8c-4349-9b9c-6d229d6993a8" providerId="ADAL" clId="{29F68EF0-9277-4D3E-BC51-6DC911C255AF}" dt="2026-04-27T04:10:36.816" v="9" actId="20577"/>
        <pc:sldMkLst>
          <pc:docMk/>
          <pc:sldMk cId="2725525435" sldId="256"/>
        </pc:sldMkLst>
        <pc:spChg chg="mod">
          <ac:chgData name="Madhanasekar, Divya" userId="a38de293-5d8c-4349-9b9c-6d229d6993a8" providerId="ADAL" clId="{29F68EF0-9277-4D3E-BC51-6DC911C255AF}" dt="2026-04-27T04:10:36.816" v="9" actId="20577"/>
          <ac:spMkLst>
            <pc:docMk/>
            <pc:sldMk cId="2725525435" sldId="256"/>
            <ac:spMk id="3" creationId="{C0974FA8-A640-ECDE-A2D3-523C8D94191F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FD74-D738-085A-FB21-B7A9A2652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E4355-2697-2294-ABCF-2B167C547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2A408-6BC9-F273-60CB-5110B86F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A3047-FAAC-C94E-E11C-96AEE618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2C971-A3EA-891B-41B8-E06F2F80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2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F989-AA01-402A-C3CE-2CDEC8BF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6E5FE-051E-2C29-6C99-649E16926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685CD-EBA2-8E6E-FBEF-C1798527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5E8DA-858C-D058-8406-792A7ABB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E0F41-E68B-A4A7-1D22-C53B458E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1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5D36-9FB5-1FD4-69A8-10A4BE46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EC406-9155-60B9-84E0-7D528EA49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A5CC2-057D-0033-5F7E-62F241D9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8E831-7E6A-319A-2F13-64D25E79F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CCA9B-A6FC-CB75-8FC5-9687FAFC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08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2B01-FAFE-053B-8E9A-97B6BF97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15785-11E3-24EB-AC02-6754CEEC5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FF394-3C7E-3F34-32B9-3789C5A11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99D0D-C33B-A9AB-0B8C-17ACAD8DA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7B755-6EA9-D597-2559-171AA5B1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AEA7C-1C62-02B8-4515-5538E4AC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0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4B63-9B69-1FCC-01D2-EF72CACC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96744-392B-F933-6CEE-9AD3F45AC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125C3-8CA6-0C28-8E9C-8E310387A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0DF9A9-7B35-94F8-FE6E-C9C324A50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E83361-252D-56F5-F5C1-DCF6696A3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E61C51-938C-4C85-648D-B3ABA5F7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42870-41A8-1D85-7936-C2C6890C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46AA6D-7483-B7B6-D8CC-9A7441F1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4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911B-9205-0C2F-405B-A2677997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C9446-0FA6-E4A4-1C39-AFB9469D6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7F1382-09A3-14D8-0F7F-9FE8D73AE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08CF0-5D8A-3D3D-58E4-1309041A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67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4C2153-32E4-7506-7718-3D1D9EFE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B0F0B-D234-472C-B4BD-AA7E79C7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D1B3D-C6FF-0EF2-B312-8CE381E1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87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6D90-4FED-9C13-2DD9-E8C5112E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B1C86-6893-D376-B73E-35B6B8624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996C0-566B-E9CC-CC75-C1B1E9E80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55F03-6260-0FD3-1979-E630D19C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9DD0F-64FD-587F-000F-755B7FFC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31858-C227-117D-A863-6F76FA26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7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18E9E-532C-E39A-D7B9-D69FA32F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1A9AF-0387-EB41-D25D-0860D639C0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47965-6587-B802-B077-636416D4F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B072D-5DC8-8ACF-4DA0-2EC62560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C5AA6-6679-2A31-C378-C3891AA9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1C984-B0A6-506C-4DF8-737B3FE2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852B-9F6F-291A-45AF-9931BE53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EA87D-F5D8-DAB8-FC0F-7B3912E8D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E0509-0035-BFC8-C79D-23187B295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FCFFF-84E6-DAA7-B598-5C9DAB42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ABF71-4720-ACFC-1374-8A9CA637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0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CD5C3-2F57-2262-CC22-4C191BE3C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AFC43-AD45-D644-D719-D36BB84B5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A2981-33FA-7EF3-BB43-24EBC02B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C2594-F26D-1192-412A-CCC06168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7A20D-BD27-52C4-894F-A8B8468C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3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DA3343-FAE8-3558-979E-DA8CFF00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52272-275A-E04D-4190-07C37D433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5A7D6-2024-0E83-7476-B5CB2F863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141D1-1A96-431F-9D64-C24CF1DCAAB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06DD1-7BDB-1533-FF50-DE184A133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A6D33-2B41-3A08-2496-CCDDDDBD4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EF752-F1B9-4861-B9B3-7ECF1C7DF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3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s.accenture.com/:b:/s/LKMTools/LKMAcademy/JavaAcademy/IQAAiKufcXcJQKc1k5aJ9edxAVBU5WFFrpTW9tJm3GesOTU" TargetMode="External"/><Relationship Id="rId3" Type="http://schemas.openxmlformats.org/officeDocument/2006/relationships/hyperlink" Target="https://mediaexchange.accenture.com/" TargetMode="Externa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sv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B5E46-44F5-F621-9AD3-9C7919381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Level -1 Submission Template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74FA8-A640-ECDE-A2D3-523C8D941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Hack-N-Stack: Code the Future</a:t>
            </a:r>
          </a:p>
          <a:p>
            <a:r>
              <a:rPr lang="en-US" sz="2000" dirty="0">
                <a:solidFill>
                  <a:srgbClr val="FFFFFF"/>
                </a:solidFill>
              </a:rPr>
              <a:t>Java Full Stack with AI: Learning Hackathon 2026</a:t>
            </a:r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52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D9E3-0054-8DEC-9F92-032E3EB1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97AFD-6B46-4CC6-C075-23437B1E9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62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i="1" dirty="0"/>
              <a:t>Complete all slides of this PPT with requested data and upload it under: </a:t>
            </a:r>
          </a:p>
          <a:p>
            <a:pPr marL="0" indent="0">
              <a:buNone/>
            </a:pPr>
            <a:r>
              <a:rPr lang="en-US" sz="1800" i="1" dirty="0"/>
              <a:t>           Problem Statement -&gt; Level 1- &gt;Submission Tab -&gt; Upload PPT tab in the Hackathon Site.</a:t>
            </a:r>
            <a:endParaRPr lang="en-US" sz="1800" i="1" dirty="0">
              <a:ea typeface="Calibri"/>
              <a:cs typeface="Calibri"/>
            </a:endParaRPr>
          </a:p>
          <a:p>
            <a:r>
              <a:rPr lang="en-US" sz="1800" i="1" dirty="0"/>
              <a:t>You can add additional slides to the presentation.</a:t>
            </a:r>
            <a:endParaRPr lang="en-US" sz="1800" i="1" dirty="0">
              <a:ea typeface="Calibri"/>
              <a:cs typeface="Calibri"/>
            </a:endParaRPr>
          </a:p>
          <a:p>
            <a:r>
              <a:rPr lang="en-US" sz="1800" i="1" dirty="0"/>
              <a:t>Existing slides should not be changed/modified.</a:t>
            </a:r>
            <a:endParaRPr lang="en-US" sz="1800" i="1" dirty="0">
              <a:ea typeface="Calibri"/>
              <a:cs typeface="Calibri"/>
            </a:endParaRPr>
          </a:p>
          <a:p>
            <a:r>
              <a:rPr lang="en-US" sz="1800" i="1" dirty="0"/>
              <a:t>Source code must not be more than 10 MB in size.</a:t>
            </a:r>
            <a:endParaRPr lang="en-US" sz="1800" i="1" dirty="0">
              <a:ea typeface="Calibri"/>
              <a:cs typeface="Calibri"/>
            </a:endParaRPr>
          </a:p>
          <a:p>
            <a:r>
              <a:rPr lang="en-US" sz="1800" dirty="0"/>
              <a:t>Refer to the Snipping Tool guide to record your video: </a:t>
            </a:r>
            <a:r>
              <a:rPr lang="en-US" sz="1800" dirty="0" err="1">
                <a:hlinkClick r:id="rId2"/>
              </a:rPr>
              <a:t>SnippingToolGuide</a:t>
            </a:r>
            <a:endParaRPr lang="en-US" sz="1800" i="1" dirty="0">
              <a:ea typeface="Calibri"/>
              <a:cs typeface="Calibri"/>
            </a:endParaRPr>
          </a:p>
          <a:p>
            <a:r>
              <a:rPr lang="en-US" sz="1800" i="1" dirty="0"/>
              <a:t>Demo Video to be uploaded to media exchange site-</a:t>
            </a:r>
            <a:r>
              <a:rPr lang="en-US" sz="1800" dirty="0">
                <a:hlinkClick r:id="rId3"/>
              </a:rPr>
              <a:t>Accenture - Media Exchange</a:t>
            </a:r>
            <a:r>
              <a:rPr lang="en-US" sz="1800" dirty="0"/>
              <a:t>.  </a:t>
            </a:r>
          </a:p>
          <a:p>
            <a:r>
              <a:rPr lang="en-US" sz="1800" dirty="0"/>
              <a:t>Access Media Exchange → Click </a:t>
            </a:r>
            <a:r>
              <a:rPr lang="en-US" sz="1800" b="1" dirty="0"/>
              <a:t>Add New</a:t>
            </a:r>
            <a:r>
              <a:rPr lang="en-US" sz="1800" dirty="0"/>
              <a:t> → Select </a:t>
            </a:r>
            <a:r>
              <a:rPr lang="en-US" sz="1800" b="1" dirty="0"/>
              <a:t>Media Upload</a:t>
            </a:r>
            <a:r>
              <a:rPr lang="en-US" sz="1800" dirty="0"/>
              <a:t> → Upload your demo video as shown below.</a:t>
            </a:r>
            <a:endParaRPr lang="en-US" sz="1800" i="1" dirty="0">
              <a:ea typeface="Calibri"/>
              <a:cs typeface="Calibri"/>
            </a:endParaRPr>
          </a:p>
          <a:p>
            <a:endParaRPr lang="en-US" sz="1600" i="1" dirty="0"/>
          </a:p>
          <a:p>
            <a:endParaRPr lang="en-US" sz="16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F714C-3C57-A670-04EE-D3A777D0C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007074"/>
            <a:ext cx="10460997" cy="159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01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76004-71E6-2639-8F78-6AB34848F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B806F-35F6-DA24-34D1-F762ADD13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5600"/>
              <a:t>Team details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Graphic 4" descr="Group with solid fill">
            <a:extLst>
              <a:ext uri="{FF2B5EF4-FFF2-40B4-BE49-F238E27FC236}">
                <a16:creationId xmlns:a16="http://schemas.microsoft.com/office/drawing/2014/main" id="{656F1402-33E5-47D7-5957-C541C91DE2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2D9EF-FCE7-CF9C-0F2B-F4BDCA011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59" y="2990818"/>
            <a:ext cx="4158031" cy="2913872"/>
          </a:xfrm>
        </p:spPr>
        <p:txBody>
          <a:bodyPr anchor="t">
            <a:normAutofit/>
          </a:bodyPr>
          <a:lstStyle/>
          <a:p>
            <a:r>
              <a:rPr b="1" sz="1800">
                <a:solidFill>
                  <a:srgbClr val="24375C"/>
                </a:solidFill>
              </a:rPr>
              <a:t>Team name: ThinkOut</a:t>
            </a:r>
          </a:p>
          <a:p>
            <a:r>
              <a:rPr sz="1400">
                <a:solidFill>
                  <a:srgbClr val="24375C"/>
                </a:solidFill>
              </a:rPr>
              <a:t>Member details are on the next slide.</a:t>
            </a: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878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0F008-BD74-397A-9F1D-E23D5F84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EE65-9A76-0BEC-C377-65814C20E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BE346-EAB5-6735-B3B0-D8CF0EA77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i="1" dirty="0">
                <a:solidFill>
                  <a:schemeClr val="accent5">
                    <a:lumMod val="75000"/>
                  </a:schemeClr>
                </a:solidFill>
              </a:rPr>
              <a:t>Provide team member name and details below.</a:t>
            </a:r>
            <a:endParaRPr lang="en-US" sz="1800" i="1" dirty="0">
              <a:solidFill>
                <a:schemeClr val="accent5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5" name="Graphic 4" descr="Group with solid fill">
            <a:extLst>
              <a:ext uri="{FF2B5EF4-FFF2-40B4-BE49-F238E27FC236}">
                <a16:creationId xmlns:a16="http://schemas.microsoft.com/office/drawing/2014/main" id="{119B43BE-138C-6DDA-CD76-72355C4EB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9487" y="570706"/>
            <a:ext cx="914400" cy="9144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926066-3A60-A978-A25B-8112DD493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34558"/>
              </p:ext>
            </p:extLst>
          </p:nvPr>
        </p:nvGraphicFramePr>
        <p:xfrm>
          <a:off x="1074057" y="2581123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223612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244858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384869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08563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Career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Role/Market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266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300"/>
                        <a:t>Shirish Mahajan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s.shirish.mahajan@accenture.com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&lt;career level&gt;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&lt;role / market&gt;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694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300"/>
                        <a:t>Durgadas Choudhari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s.durgadas.choudhari@accenture.com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&lt;career level&gt;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&lt;role / market&gt;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83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300"/>
                        <a:t>Rupesh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rupesh.v.kumar@accenture.com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&lt;career level&gt;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&lt;role / market&gt;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86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300"/>
                        <a:t>Saloni Sinha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saloni.c.sinha@accenture.com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&lt;career level&gt;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&lt;role / market&gt;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67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43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90421-198C-451F-D1A8-8E00EFA7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8CB4B08-187E-1501-0F62-AD403C7FE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CB54C-758B-FF02-C89C-49F6B719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4300" dirty="0"/>
              <a:t>Technical Architecture details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7336720-75FC-6F1D-F00B-0390482BE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273FFE-D0BF-D9DB-3E0E-E735E7D3B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20" name="Graphic 11">
              <a:extLst>
                <a:ext uri="{FF2B5EF4-FFF2-40B4-BE49-F238E27FC236}">
                  <a16:creationId xmlns:a16="http://schemas.microsoft.com/office/drawing/2014/main" id="{E21822C3-19C4-D546-E33C-A1442EEC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12">
              <a:extLst>
                <a:ext uri="{FF2B5EF4-FFF2-40B4-BE49-F238E27FC236}">
                  <a16:creationId xmlns:a16="http://schemas.microsoft.com/office/drawing/2014/main" id="{C0D30975-AB2D-B674-71BD-7EA951FFE6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" name="Graphic 9" descr="Layers Design with solid fill">
            <a:extLst>
              <a:ext uri="{FF2B5EF4-FFF2-40B4-BE49-F238E27FC236}">
                <a16:creationId xmlns:a16="http://schemas.microsoft.com/office/drawing/2014/main" id="{D8C254A5-B293-1395-F221-9B5C227CA9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251E7-0417-1870-1B3F-4B2422AAA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59" y="2990818"/>
            <a:ext cx="4158031" cy="2913872"/>
          </a:xfrm>
        </p:spPr>
        <p:txBody>
          <a:bodyPr anchor="t">
            <a:normAutofit/>
          </a:bodyPr>
          <a:lstStyle/>
          <a:p>
            <a:r>
              <a:rPr lang="en-US" sz="2000" i="1" dirty="0">
                <a:solidFill>
                  <a:schemeClr val="tx1">
                    <a:alpha val="80000"/>
                  </a:schemeClr>
                </a:solidFill>
              </a:rPr>
              <a:t>Describe on the next slide the frameworks/libraries used across different application layers shown in the diagram.</a:t>
            </a: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9F2A268D-B7A3-34EB-3B0B-091348E66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36C248-2FE5-9B36-24DB-49F62F19E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790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C844641-36F8-371F-4B29-DF00531B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AD19-3C9D-9CF0-1491-57ED7EE50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Technical architecture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3BC8-8893-AD3E-2019-9DCAF7BEF515}"/>
              </a:ext>
            </a:extLst>
          </p:cNvPr>
          <p:cNvSpPr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 sz="16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0ED97F-039D-1323-D4EA-85071B134B8F}"/>
              </a:ext>
            </a:extLst>
          </p:cNvPr>
          <p:cNvSpPr/>
          <p:nvPr/>
        </p:nvSpPr>
        <p:spPr>
          <a:xfrm>
            <a:off x="1371600" y="2148840"/>
            <a:ext cx="9418320" cy="71323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defTabSz="941832"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FRONT END  -  React 18 + TypeScript, Vite, React Router, Framer Motion (animations), custom design-system CSS. Talks to the API over REST/JSON with a JWT bearer token.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639015-ACED-509A-6E74-B45BC0E24BBE}"/>
              </a:ext>
            </a:extLst>
          </p:cNvPr>
          <p:cNvSpPr/>
          <p:nvPr/>
        </p:nvSpPr>
        <p:spPr>
          <a:xfrm>
            <a:off x="1371600" y="2971800"/>
            <a:ext cx="9418320" cy="71323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defTabSz="941832"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INTEGRATION LAYER  -  Spring Security + JWT (stateless, role-based), CORS, REST controllers, Bean Validation, centralized exception handling (@RestControllerAdvice). Apache POI for Excel import/export.</a:t>
            </a:r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7A0BCB-2535-668D-2943-154600A5FD6A}"/>
              </a:ext>
            </a:extLst>
          </p:cNvPr>
          <p:cNvSpPr/>
          <p:nvPr/>
        </p:nvSpPr>
        <p:spPr>
          <a:xfrm>
            <a:off x="1371600" y="3794760"/>
            <a:ext cx="9418320" cy="71323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defTabSz="941832"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WEB LAYER  -  Spring Boot 3 (Java 17) MVC REST controllers exposing /api/* endpoints for auth, MCQs, reviews, admin question-bank, master data and bulk upload.</a:t>
            </a:r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21E808-65C6-6DB2-5FD6-8E64B042D855}"/>
              </a:ext>
            </a:extLst>
          </p:cNvPr>
          <p:cNvSpPr/>
          <p:nvPr/>
        </p:nvSpPr>
        <p:spPr>
          <a:xfrm>
            <a:off x="1371600" y="4617720"/>
            <a:ext cx="9418320" cy="71323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defTabSz="941832"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DAO / PERSISTENCE LAYER  -  Spring Data JPA / Hibernate repositories; service layer with an MCQ lifecycle state-machine enforcing all status transitions.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ACDEFB-44DE-1F1D-EF27-FD6C0309C005}"/>
              </a:ext>
            </a:extLst>
          </p:cNvPr>
          <p:cNvSpPr/>
          <p:nvPr/>
        </p:nvSpPr>
        <p:spPr>
          <a:xfrm>
            <a:off x="1371600" y="5440680"/>
            <a:ext cx="9418320" cy="71323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defTabSz="941832"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DATABASE  -  H2 in-memory by default (zero-setup demo, auto-seeded) with a PostgreSQL profile for production. Entities: User, UserSkill, TechStack, Topic, Mcq, ReviewAssignment.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C4EF175-9455-4B36-971D-F6B1C7B9D37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Technical Architecture details</a:t>
            </a:r>
          </a:p>
        </p:txBody>
      </p:sp>
    </p:spTree>
    <p:extLst>
      <p:ext uri="{BB962C8B-B14F-4D97-AF65-F5344CB8AC3E}">
        <p14:creationId xmlns:p14="http://schemas.microsoft.com/office/powerpoint/2010/main" val="2929622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3B34C-5CD3-CC2F-AAC6-DF0470C8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25A1E-5AD2-F492-065D-95FA2B726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845" y="533531"/>
            <a:ext cx="4891413" cy="1986262"/>
          </a:xfrm>
        </p:spPr>
        <p:txBody>
          <a:bodyPr anchor="b">
            <a:normAutofit/>
          </a:bodyPr>
          <a:lstStyle/>
          <a:p>
            <a:r>
              <a:rPr lang="en-US" sz="4300" dirty="0"/>
              <a:t>Software Architecture details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20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" name="Graphic 9" descr="Blueprint with solid fill">
            <a:extLst>
              <a:ext uri="{FF2B5EF4-FFF2-40B4-BE49-F238E27FC236}">
                <a16:creationId xmlns:a16="http://schemas.microsoft.com/office/drawing/2014/main" id="{F87DA9B7-708F-56B7-87B7-D90A6295A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7EE14-457A-E504-A523-4F9BC8673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59" y="2990818"/>
            <a:ext cx="4158031" cy="2913872"/>
          </a:xfrm>
        </p:spPr>
        <p:txBody>
          <a:bodyPr anchor="t">
            <a:normAutofit/>
          </a:bodyPr>
          <a:lstStyle/>
          <a:p>
            <a:r>
              <a:rPr lang="en-US" sz="2000" i="1" dirty="0">
                <a:solidFill>
                  <a:schemeClr val="tx1">
                    <a:alpha val="80000"/>
                  </a:schemeClr>
                </a:solidFill>
              </a:rPr>
              <a:t>Describe on the next slide using diagrams or at least 5-6 sentences the high-level architecture of your solution. E.g. UML diagrams, ER diagram, microservice oriented architecture diagram, design patterns used if any etc.</a:t>
            </a: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38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043E1-067C-7D38-3AF0-53A81C8C2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547B-7946-1B76-1651-B1BAC1097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24D79-D7C0-A2FA-0E5E-A28BC8BBC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645920"/>
            <a:ext cx="5212080" cy="466344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333333"/>
                </a:solidFill>
              </a:rPr>
              <a:t>High-level architecture — a layered, modular monolith (Controller → Service → Repository) with a clear feature-based package layout.</a:t>
            </a:r>
            <a:endParaRPr lang="en-US" sz="1800" i="1" dirty="0">
              <a:solidFill>
                <a:schemeClr val="accent5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</a:rPr>
              <a:t>Design pattern at the core: a State-Machine (McqLifecycle) is the single owner of all MCQ status transitions. No other class mutates status, so illegal transitions are impossible by construction.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</a:rPr>
              <a:t>Each MCQ moves through exactly one state: Draft → Ready for Review → Under Review → Approved / Rejected (with re-submission loops).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</a:rPr>
              <a:t>Other patterns: DTO mapping at the controller boundary; repository pattern via Spring Data JPA; role-based access enforced at both the URL layer (Spring Security) and the service layer (defense in depth).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</a:rPr>
              <a:t>Review history is modelled as separate ReviewAssignment rows, so multi-cycle reviews are fully auditable and prior reviewer feedback is preserved across resubmissions.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</a:rPr>
              <a:t>Quality: 35 automated tests (JUnit 5 + MockMvc) cover the lifecycle, services, controllers, auth and bulk import. Verified end-to-end against the running app.</a:t>
            </a:r>
          </a:p>
        </p:txBody>
      </p:sp>
      <p:pic>
        <p:nvPicPr>
          <p:cNvPr id="10" name="Graphic 9" descr="Blueprint with solid fill">
            <a:extLst>
              <a:ext uri="{FF2B5EF4-FFF2-40B4-BE49-F238E27FC236}">
                <a16:creationId xmlns:a16="http://schemas.microsoft.com/office/drawing/2014/main" id="{33024784-2F37-4A32-B3BE-4E5E3830F3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5314" y="570706"/>
            <a:ext cx="914400" cy="914400"/>
          </a:xfrm>
          <a:prstGeom prst="rect">
            <a:avLst/>
          </a:prstGeom>
        </p:spPr>
      </p:pic>
      <p:pic>
        <p:nvPicPr>
          <p:cNvPr id="11" name="Picture 10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377440"/>
            <a:ext cx="6126480" cy="344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29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AB3EB-3B35-9941-DEB8-DCB42D40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2A27E-711D-4FE0-A908-C69ED80C0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845" y="533531"/>
            <a:ext cx="4792022" cy="1986262"/>
          </a:xfrm>
        </p:spPr>
        <p:txBody>
          <a:bodyPr anchor="b">
            <a:normAutofit fontScale="90000"/>
          </a:bodyPr>
          <a:lstStyle/>
          <a:p>
            <a:r>
              <a:rPr lang="en-US" sz="5600" dirty="0"/>
              <a:t>Level -1 Solution Description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20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FEBC8DA1-4DAA-3BE9-079C-8B7224372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809AC-F157-23FA-5594-751B98264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59" y="2990818"/>
            <a:ext cx="4158031" cy="2913872"/>
          </a:xfrm>
        </p:spPr>
        <p:txBody>
          <a:bodyPr anchor="t">
            <a:normAutofit/>
          </a:bodyPr>
          <a:lstStyle/>
          <a:p>
            <a:r>
              <a:rPr lang="en-US" sz="2000" i="1" dirty="0">
                <a:solidFill>
                  <a:schemeClr val="tx1">
                    <a:alpha val="80000"/>
                  </a:schemeClr>
                </a:solidFill>
              </a:rPr>
              <a:t>Describe here the solution details and how it solves the problem statement. Provide a brief on what makes your solution special or different from other solutions.</a:t>
            </a: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72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93FBC-775C-FF7D-2E3E-BB7FEBA4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7C8E-DF18-549D-0905-D887FB0D6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 -1 Solution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8C82D-14DB-EA64-F7C8-546B54B84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</a:rPr>
              <a:t>Smart Quiz AI Hub centralizes MCQ creation, review and approval into one accountable pipeline — replacing the fragmented third-party tools the L&amp;TT team relies on today.</a:t>
            </a:r>
            <a:endParaRPr lang="en-US" sz="1800" i="1" dirty="0">
              <a:solidFill>
                <a:schemeClr val="accent5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</a:rPr>
              <a:t>SMEs author questions from an intuitive UI or by bulk-uploading an Excel template (Template_MCQs.xlsx) that is validated row-by-row and imported as drafts.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</a:rPr>
              <a:t>Every question carries a live status. SMEs track their work in 'My Questions'; rejected items show the reviewer's feedback inline and can be edited and resubmitted.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</a:rPr>
              <a:t>Admins manage the full question bank, edit any question (except another author's private draft), and assign reviewers. Reviewers see only what's assigned to them and must give a mandatory comment when rejecting.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</a:rPr>
              <a:t>What makes it different: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</a:rPr>
              <a:t>A real state-machine guarantees no question reaches 'Approved' without passing a skill-matched, NON-author review — a genuine quality gate, not just status labels.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</a:rPr>
              <a:t>Reviewer assignment is automatically restricted to SMEs whose skills match the question's technology stack, and excludes the creator to prevent self-review.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</a:rPr>
              <a:t>Full, auditable review history across multiple revision cycles; zero-setup demo (H2 + seeded data) with a production PostgreSQL profile; 35 automated tests.</a:t>
            </a:r>
          </a:p>
        </p:txBody>
      </p:sp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4A7290F4-BA2B-D6AF-602F-662C9C0E6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24057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24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5FFF1-5656-4C36-F362-024B666C9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C889A-B087-1B99-E15C-60960374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1782" y="953310"/>
            <a:ext cx="4769934" cy="2118782"/>
          </a:xfrm>
        </p:spPr>
        <p:txBody>
          <a:bodyPr anchor="b">
            <a:normAutofit fontScale="90000"/>
          </a:bodyPr>
          <a:lstStyle/>
          <a:p>
            <a:r>
              <a:rPr lang="en-US" sz="5600" dirty="0"/>
              <a:t>Level -1 Solution Demo Video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BBA018-FA75-43BF-99E6-1F5245727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673405-BF85-493E-8558-0DCBEDB2B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79610"/>
            <a:ext cx="4831130" cy="4078390"/>
          </a:xfrm>
          <a:custGeom>
            <a:avLst/>
            <a:gdLst>
              <a:gd name="connsiteX0" fmla="*/ 1960035 w 4831130"/>
              <a:gd name="connsiteY0" fmla="*/ 0 h 4078390"/>
              <a:gd name="connsiteX1" fmla="*/ 4831130 w 4831130"/>
              <a:gd name="connsiteY1" fmla="*/ 2871095 h 4078390"/>
              <a:gd name="connsiteX2" fmla="*/ 4605505 w 4831130"/>
              <a:gd name="connsiteY2" fmla="*/ 3988655 h 4078390"/>
              <a:gd name="connsiteX3" fmla="*/ 4562278 w 4831130"/>
              <a:gd name="connsiteY3" fmla="*/ 4078390 h 4078390"/>
              <a:gd name="connsiteX4" fmla="*/ 0 w 4831130"/>
              <a:gd name="connsiteY4" fmla="*/ 4078390 h 4078390"/>
              <a:gd name="connsiteX5" fmla="*/ 0 w 4831130"/>
              <a:gd name="connsiteY5" fmla="*/ 777181 h 4078390"/>
              <a:gd name="connsiteX6" fmla="*/ 133752 w 4831130"/>
              <a:gd name="connsiteY6" fmla="*/ 655619 h 4078390"/>
              <a:gd name="connsiteX7" fmla="*/ 1960035 w 4831130"/>
              <a:gd name="connsiteY7" fmla="*/ 0 h 4078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130" h="4078390">
                <a:moveTo>
                  <a:pt x="1960035" y="0"/>
                </a:moveTo>
                <a:cubicBezTo>
                  <a:pt x="3545697" y="0"/>
                  <a:pt x="4831130" y="1285433"/>
                  <a:pt x="4831130" y="2871095"/>
                </a:cubicBezTo>
                <a:cubicBezTo>
                  <a:pt x="4831130" y="3267511"/>
                  <a:pt x="4750791" y="3645162"/>
                  <a:pt x="4605505" y="3988655"/>
                </a:cubicBezTo>
                <a:lnTo>
                  <a:pt x="4562278" y="4078390"/>
                </a:lnTo>
                <a:lnTo>
                  <a:pt x="0" y="4078390"/>
                </a:lnTo>
                <a:lnTo>
                  <a:pt x="0" y="777181"/>
                </a:lnTo>
                <a:lnTo>
                  <a:pt x="133752" y="655619"/>
                </a:lnTo>
                <a:cubicBezTo>
                  <a:pt x="630047" y="246040"/>
                  <a:pt x="1266308" y="0"/>
                  <a:pt x="196003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64EAE84-A813-4501-BC71-DBD14BA02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9782" y="1"/>
            <a:ext cx="4195674" cy="3095741"/>
          </a:xfrm>
          <a:custGeom>
            <a:avLst/>
            <a:gdLst>
              <a:gd name="connsiteX0" fmla="*/ 252211 w 4195674"/>
              <a:gd name="connsiteY0" fmla="*/ 0 h 3095741"/>
              <a:gd name="connsiteX1" fmla="*/ 3943464 w 4195674"/>
              <a:gd name="connsiteY1" fmla="*/ 0 h 3095741"/>
              <a:gd name="connsiteX2" fmla="*/ 4030816 w 4195674"/>
              <a:gd name="connsiteY2" fmla="*/ 181331 h 3095741"/>
              <a:gd name="connsiteX3" fmla="*/ 4195674 w 4195674"/>
              <a:gd name="connsiteY3" fmla="*/ 997904 h 3095741"/>
              <a:gd name="connsiteX4" fmla="*/ 2097837 w 4195674"/>
              <a:gd name="connsiteY4" fmla="*/ 3095741 h 3095741"/>
              <a:gd name="connsiteX5" fmla="*/ 0 w 4195674"/>
              <a:gd name="connsiteY5" fmla="*/ 997904 h 3095741"/>
              <a:gd name="connsiteX6" fmla="*/ 164859 w 4195674"/>
              <a:gd name="connsiteY6" fmla="*/ 181331 h 309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5674" h="3095741">
                <a:moveTo>
                  <a:pt x="252211" y="0"/>
                </a:moveTo>
                <a:lnTo>
                  <a:pt x="3943464" y="0"/>
                </a:lnTo>
                <a:lnTo>
                  <a:pt x="4030816" y="181331"/>
                </a:lnTo>
                <a:cubicBezTo>
                  <a:pt x="4136972" y="432313"/>
                  <a:pt x="4195674" y="708253"/>
                  <a:pt x="4195674" y="997904"/>
                </a:cubicBezTo>
                <a:cubicBezTo>
                  <a:pt x="4195674" y="2156507"/>
                  <a:pt x="3256440" y="3095741"/>
                  <a:pt x="2097837" y="3095741"/>
                </a:cubicBezTo>
                <a:cubicBezTo>
                  <a:pt x="939234" y="3095741"/>
                  <a:pt x="0" y="2156507"/>
                  <a:pt x="0" y="997904"/>
                </a:cubicBezTo>
                <a:cubicBezTo>
                  <a:pt x="0" y="708253"/>
                  <a:pt x="58702" y="432313"/>
                  <a:pt x="164859" y="181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Graphic 4" descr="Vlog with solid fill">
            <a:extLst>
              <a:ext uri="{FF2B5EF4-FFF2-40B4-BE49-F238E27FC236}">
                <a16:creationId xmlns:a16="http://schemas.microsoft.com/office/drawing/2014/main" id="{18CB3F2E-EED8-E6E0-74CC-BA1B2E1289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36211" y="165871"/>
            <a:ext cx="2353922" cy="23539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AA0A3-FA8C-55F1-D74B-0FF7D3F3A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5042" y="3361869"/>
            <a:ext cx="4195675" cy="2913872"/>
          </a:xfrm>
        </p:spPr>
        <p:txBody>
          <a:bodyPr anchor="t">
            <a:normAutofit/>
          </a:bodyPr>
          <a:lstStyle/>
          <a:p>
            <a:r>
              <a:rPr lang="en-US" sz="2000" i="1" dirty="0"/>
              <a:t>Provide a video demo/walkthrough of the solution the solution showing the running application. Video must not be more than 5 mins.</a:t>
            </a:r>
          </a:p>
        </p:txBody>
      </p:sp>
      <p:pic>
        <p:nvPicPr>
          <p:cNvPr id="7" name="Graphic 6" descr="Presentation with media with solid fill">
            <a:extLst>
              <a:ext uri="{FF2B5EF4-FFF2-40B4-BE49-F238E27FC236}">
                <a16:creationId xmlns:a16="http://schemas.microsoft.com/office/drawing/2014/main" id="{7D59AEE2-7111-78F4-2EAC-4296245B0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154" y="3684772"/>
            <a:ext cx="2752751" cy="2752751"/>
          </a:xfrm>
          <a:prstGeom prst="rect">
            <a:avLst/>
          </a:prstGeom>
        </p:spPr>
      </p:pic>
      <p:sp>
        <p:nvSpPr>
          <p:cNvPr id="2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93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A775E-20BE-C4BE-7B5D-9E96DE83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A9CB-54FB-B37C-5A0D-CCD813D8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Level-1 Solution Demo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C0874-7470-5BBB-7D97-CB306D214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i="1" dirty="0">
                <a:solidFill>
                  <a:schemeClr val="accent5">
                    <a:lumMod val="75000"/>
                  </a:schemeClr>
                </a:solidFill>
              </a:rPr>
              <a:t>Provide a video demo/walkthrough of the solution the solution showing the running application. Video must not be more than 5 mins. Video must be uploaded to media exchange. See instructions slide.</a:t>
            </a:r>
            <a:endParaRPr lang="en-US" sz="1800" i="1" dirty="0">
              <a:solidFill>
                <a:schemeClr val="accent5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7" name="Graphic 6" descr="Presentation with media with solid fill">
            <a:extLst>
              <a:ext uri="{FF2B5EF4-FFF2-40B4-BE49-F238E27FC236}">
                <a16:creationId xmlns:a16="http://schemas.microsoft.com/office/drawing/2014/main" id="{017D155A-3C22-BB0B-8684-4C2A781F4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8600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021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20347-37BE-DF94-9499-2EA52A1D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35A98-3B11-284B-D311-744402C5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845" y="533531"/>
            <a:ext cx="4792022" cy="1986262"/>
          </a:xfrm>
        </p:spPr>
        <p:txBody>
          <a:bodyPr anchor="b">
            <a:normAutofit/>
          </a:bodyPr>
          <a:lstStyle/>
          <a:p>
            <a:r>
              <a:rPr lang="en-US" sz="4300"/>
              <a:t>Workflow and Deployment instructions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Graphic 4" descr="Workflow with solid fill">
            <a:extLst>
              <a:ext uri="{FF2B5EF4-FFF2-40B4-BE49-F238E27FC236}">
                <a16:creationId xmlns:a16="http://schemas.microsoft.com/office/drawing/2014/main" id="{9F54AF84-01DB-ED85-00E7-EAB8A155B0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8F5F5-3AA1-8C06-B518-92B75F144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59" y="2990818"/>
            <a:ext cx="4158031" cy="2913872"/>
          </a:xfrm>
        </p:spPr>
        <p:txBody>
          <a:bodyPr anchor="t">
            <a:normAutofit/>
          </a:bodyPr>
          <a:lstStyle/>
          <a:p>
            <a:r>
              <a:rPr lang="en-US" sz="2000" i="1">
                <a:solidFill>
                  <a:schemeClr val="tx1">
                    <a:alpha val="80000"/>
                  </a:schemeClr>
                </a:solidFill>
              </a:rPr>
              <a:t>Provide screenshots of the solution and deployment instructions/dummy data if any .</a:t>
            </a: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288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7B1D-28B9-9621-BED9-82E9B8545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4800-06BC-7C27-2E7A-64459896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and Deployment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756D9-168A-59E6-38C1-9C7B0AED0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554480"/>
            <a:ext cx="4937760" cy="475488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2B4A"/>
                </a:solidFill>
              </a:rPr>
              <a:t>Deployment / run instructions</a:t>
            </a:r>
            <a:endParaRPr lang="en-US" sz="1800" i="1" dirty="0">
              <a:solidFill>
                <a:schemeClr val="accent5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1.  Backend: cd backend &amp;&amp; mvn spring-boot:run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     → http://localhost:8080 (H2 auto-seeded)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2.  Frontend: cd frontend &amp;&amp; npm install &amp;&amp; npm run dev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     → http://localhost:5173 (proxies /api to :8080)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3.  Sign in with a demo account (password = password):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     birendra.kumar.singh = Admin; gaurav.a.bhola = SME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Optional: run on PostgreSQL with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   mvn spring-boot:run -Dspring-boot.run.profiles=postgres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2B4A"/>
                </a:solidFill>
              </a:rPr>
              <a:t>Workflow shown in screenshots →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Login · My Questions (with statuses &amp; reviewer feedback) ·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</a:rPr>
              <a:t>Add Question · Admin Question Bank (assign reviewer).</a:t>
            </a:r>
          </a:p>
        </p:txBody>
      </p:sp>
      <p:pic>
        <p:nvPicPr>
          <p:cNvPr id="5" name="Graphic 4" descr="Workflow with solid fill">
            <a:extLst>
              <a:ext uri="{FF2B5EF4-FFF2-40B4-BE49-F238E27FC236}">
                <a16:creationId xmlns:a16="http://schemas.microsoft.com/office/drawing/2014/main" id="{C66E8B8B-0A5B-DB2B-DCD5-EF022744F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3085" y="681037"/>
            <a:ext cx="914400" cy="914400"/>
          </a:xfrm>
          <a:prstGeom prst="rect">
            <a:avLst/>
          </a:prstGeom>
        </p:spPr>
      </p:pic>
      <p:pic>
        <p:nvPicPr>
          <p:cNvPr id="6" name="Picture 5" descr="01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554480"/>
            <a:ext cx="3108960" cy="1301472"/>
          </a:xfrm>
          <a:prstGeom prst="rect">
            <a:avLst/>
          </a:prstGeom>
        </p:spPr>
      </p:pic>
      <p:pic>
        <p:nvPicPr>
          <p:cNvPr id="7" name="Picture 6" descr="02-my-ques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554480"/>
            <a:ext cx="3108960" cy="1302320"/>
          </a:xfrm>
          <a:prstGeom prst="rect">
            <a:avLst/>
          </a:prstGeom>
        </p:spPr>
      </p:pic>
      <p:pic>
        <p:nvPicPr>
          <p:cNvPr id="8" name="Picture 7" descr="03-add-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4069080"/>
            <a:ext cx="3108960" cy="1302320"/>
          </a:xfrm>
          <a:prstGeom prst="rect">
            <a:avLst/>
          </a:prstGeom>
        </p:spPr>
      </p:pic>
      <p:pic>
        <p:nvPicPr>
          <p:cNvPr id="9" name="Picture 8" descr="04-question-ba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4069080"/>
            <a:ext cx="3108960" cy="130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57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30396-4A17-678C-4B09-B8962DC7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43611-4153-46FB-7665-4378720B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5600"/>
              <a:t>Source Code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649A510A-8143-09B5-CED9-1D7644FD48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CEDF9-61FB-A2BB-F989-265C6E1DE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59" y="2990818"/>
            <a:ext cx="4158031" cy="2913872"/>
          </a:xfrm>
        </p:spPr>
        <p:txBody>
          <a:bodyPr anchor="t">
            <a:normAutofit/>
          </a:bodyPr>
          <a:lstStyle/>
          <a:p>
            <a:r>
              <a:rPr lang="en-US" sz="2000" i="1" dirty="0">
                <a:solidFill>
                  <a:srgbClr val="000000"/>
                </a:solidFill>
              </a:rPr>
              <a:t>Upload the solution source code as a zip file to the Hackathon site.</a:t>
            </a:r>
            <a:endParaRPr lang="en-US" dirty="0">
              <a:solidFill>
                <a:srgbClr val="000000"/>
              </a:solidFill>
            </a:endParaRPr>
          </a:p>
          <a:p>
            <a:endParaRPr lang="en-US" sz="2000" i="1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987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358C5-E71C-1D0A-1D04-377D2C3CD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3295-8246-05FA-16F8-A8C5F86F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0AC80-A3BF-9E21-9785-581A88EAA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i="1" dirty="0">
                <a:solidFill>
                  <a:schemeClr val="accent5">
                    <a:lumMod val="75000"/>
                  </a:schemeClr>
                </a:solidFill>
              </a:rPr>
              <a:t>Upload the solution source code as a zip file to the Hackathon site. (Max 10 MB)</a:t>
            </a:r>
            <a:endParaRPr lang="en-US" sz="1800" dirty="0">
              <a:solidFill>
                <a:schemeClr val="accent5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US" sz="1800" i="1" dirty="0">
                <a:solidFill>
                  <a:schemeClr val="accent5">
                    <a:lumMod val="75000"/>
                  </a:schemeClr>
                </a:solidFill>
              </a:rPr>
              <a:t>Upload the source code under the Problem </a:t>
            </a:r>
            <a:r>
              <a:rPr lang="en-US" sz="1800" i="1">
                <a:solidFill>
                  <a:schemeClr val="accent5">
                    <a:lumMod val="75000"/>
                  </a:schemeClr>
                </a:solidFill>
              </a:rPr>
              <a:t>Statement Level </a:t>
            </a:r>
            <a:r>
              <a:rPr lang="en-US" sz="1800" i="1" dirty="0">
                <a:solidFill>
                  <a:schemeClr val="accent5">
                    <a:lumMod val="75000"/>
                  </a:schemeClr>
                </a:solidFill>
              </a:rPr>
              <a:t>1 -&gt; Submission -&gt; Upload Zip section.</a:t>
            </a:r>
            <a:endParaRPr lang="en-US" sz="1800">
              <a:solidFill>
                <a:schemeClr val="accent5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US" sz="1800" i="1" dirty="0">
                <a:solidFill>
                  <a:schemeClr val="accent5">
                    <a:lumMod val="75000"/>
                  </a:schemeClr>
                </a:solidFill>
                <a:ea typeface="Calibri"/>
                <a:cs typeface="Calibri"/>
              </a:rPr>
              <a:t>For Java projects please delete everything under </a:t>
            </a:r>
            <a:r>
              <a:rPr lang="en-US" sz="1800" b="1" i="1" dirty="0">
                <a:solidFill>
                  <a:schemeClr val="accent5">
                    <a:lumMod val="75000"/>
                  </a:schemeClr>
                </a:solidFill>
                <a:ea typeface="Calibri"/>
                <a:cs typeface="Calibri"/>
              </a:rPr>
              <a:t>target </a:t>
            </a:r>
            <a:r>
              <a:rPr lang="en-US" sz="1800" i="1" dirty="0">
                <a:solidFill>
                  <a:schemeClr val="accent5">
                    <a:lumMod val="75000"/>
                  </a:schemeClr>
                </a:solidFill>
                <a:ea typeface="Calibri"/>
                <a:cs typeface="Calibri"/>
              </a:rPr>
              <a:t>folder before upload.</a:t>
            </a:r>
          </a:p>
          <a:p>
            <a:r>
              <a:rPr lang="en-US" sz="1800" i="1" dirty="0">
                <a:solidFill>
                  <a:schemeClr val="accent5">
                    <a:lumMod val="75000"/>
                  </a:schemeClr>
                </a:solidFill>
                <a:ea typeface="Calibri"/>
                <a:cs typeface="Calibri"/>
              </a:rPr>
              <a:t>For React/Angular project please delete the </a:t>
            </a:r>
            <a:r>
              <a:rPr lang="en-US" sz="1800" b="1" i="1" dirty="0" err="1">
                <a:solidFill>
                  <a:schemeClr val="accent5">
                    <a:lumMod val="75000"/>
                  </a:schemeClr>
                </a:solidFill>
                <a:ea typeface="Calibri"/>
                <a:cs typeface="Calibri"/>
              </a:rPr>
              <a:t>node_modules</a:t>
            </a:r>
            <a:r>
              <a:rPr lang="en-US" sz="1800" i="1" dirty="0">
                <a:solidFill>
                  <a:schemeClr val="accent5">
                    <a:lumMod val="75000"/>
                  </a:schemeClr>
                </a:solidFill>
                <a:ea typeface="Calibri"/>
                <a:cs typeface="Calibri"/>
              </a:rPr>
              <a:t> folder before upload.</a:t>
            </a:r>
          </a:p>
          <a:p>
            <a:endParaRPr lang="en-US" sz="1800" i="1" dirty="0">
              <a:solidFill>
                <a:srgbClr val="2E75B6"/>
              </a:solidFill>
              <a:ea typeface="Calibri"/>
              <a:cs typeface="Calibri"/>
            </a:endParaRPr>
          </a:p>
          <a:p>
            <a:endParaRPr lang="en-US" sz="1800" i="1" dirty="0">
              <a:solidFill>
                <a:schemeClr val="accent5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17D2EB6B-4BDE-7001-BBE2-A3D8641217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0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61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D9E3-0054-8DEC-9F92-032E3EB1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97AFD-6B46-4CC6-C075-23437B1E9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333333"/>
                </a:solidFill>
              </a:rPr>
              <a:t>Tech stack: Java 17, Spring Boot 3.2, Spring Security + JWT, Spring Data JPA/Hibernate, Apache POI, H2 / PostgreSQL  •  React 18, TypeScript, Vite, Framer Motion.</a:t>
            </a:r>
            <a:endParaRPr lang="en-US" sz="1800" i="1" dirty="0">
              <a:solidFill>
                <a:schemeClr val="accent5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33333"/>
                </a:solidFill>
              </a:rPr>
              <a:t>Run locally — backend: 'cd backend &amp;&amp; mvn spring-boot:run' (http://localhost:8080).  Frontend: 'cd frontend &amp;&amp; npm install &amp;&amp; npm run dev' (http://localhost:5173).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33333"/>
                </a:solidFill>
              </a:rPr>
              <a:t>Demo logins (password = 'password'): birendra.kumar.singh (ADMIN); gaurav.a.bhola, divya.madhanasekar, swati.avinash.nikam, indugu.hari.prasad (SME).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33333"/>
                </a:solidFill>
              </a:rPr>
              <a:t>Seeded from the problem statement: 6 technology stacks, Spring Cloud topics, the SME-skill mapping, and the two sample MCQs — so the app is demoable the moment it starts.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33333"/>
                </a:solidFill>
              </a:rPr>
              <a:t>Testing: 35 JUnit 5 / MockMvc tests (lifecycle, services, controllers, auth, bulk import), all green; verified end-to-end against the running application.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33333"/>
                </a:solidFill>
              </a:rPr>
              <a:t>Packaging note: delete backend/target and frontend/node_modules before zipping (source stays well under the 10 MB limit).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33333"/>
                </a:solidFill>
              </a:rPr>
              <a:t>AI roadmap (Phase 2): the architecture leaves a clean seam for Spring AI — question generation from a topic and duplicate/similarity detection at creation time.</a:t>
            </a:r>
          </a:p>
        </p:txBody>
      </p:sp>
    </p:spTree>
    <p:extLst>
      <p:ext uri="{BB962C8B-B14F-4D97-AF65-F5344CB8AC3E}">
        <p14:creationId xmlns:p14="http://schemas.microsoft.com/office/powerpoint/2010/main" val="3677122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Graphic 4" descr="Race Flag with solid fill">
            <a:extLst>
              <a:ext uri="{FF2B5EF4-FFF2-40B4-BE49-F238E27FC236}">
                <a16:creationId xmlns:a16="http://schemas.microsoft.com/office/drawing/2014/main" id="{E84999C4-FDB0-F9B6-3372-094ACFAB5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13101-7BD5-5399-5DA7-E47231F50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59" y="2990818"/>
            <a:ext cx="4158031" cy="2913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tx1">
                    <a:alpha val="80000"/>
                  </a:schemeClr>
                </a:solidFill>
                <a:latin typeface="Congenial Black" panose="020F0502020204030204" pitchFamily="2" charset="0"/>
              </a:rPr>
              <a:t>THANK YOU</a:t>
            </a: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76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</TotalTime>
  <Words>587</Words>
  <Application>Microsoft Office PowerPoint</Application>
  <PresentationFormat>Widescreen</PresentationFormat>
  <Paragraphs>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Congenial Black</vt:lpstr>
      <vt:lpstr>Office Theme</vt:lpstr>
      <vt:lpstr>Level -1 Submission Template</vt:lpstr>
      <vt:lpstr>Instructions</vt:lpstr>
      <vt:lpstr>Team details</vt:lpstr>
      <vt:lpstr>Team details</vt:lpstr>
      <vt:lpstr>Technical Architecture details</vt:lpstr>
      <vt:lpstr>Technical architecture details</vt:lpstr>
      <vt:lpstr>Software Architecture details</vt:lpstr>
      <vt:lpstr>Software Architecture details</vt:lpstr>
      <vt:lpstr>Level -1 Solution Description</vt:lpstr>
      <vt:lpstr>Level -1 Solution Description</vt:lpstr>
      <vt:lpstr>Level -1 Solution Demo Video</vt:lpstr>
      <vt:lpstr>Level-1 Solution Demo Video</vt:lpstr>
      <vt:lpstr>Workflow and Deployment instructions</vt:lpstr>
      <vt:lpstr>Workflow and Deployment instructions</vt:lpstr>
      <vt:lpstr>Source Code</vt:lpstr>
      <vt:lpstr>Source Code</vt:lpstr>
      <vt:lpstr>Additional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Submission Template</dc:title>
  <dc:creator>Krishnan, Anjana</dc:creator>
  <cp:lastModifiedBy>Madhanasekar, Divya</cp:lastModifiedBy>
  <cp:revision>131</cp:revision>
  <dcterms:created xsi:type="dcterms:W3CDTF">2024-03-19T09:28:13Z</dcterms:created>
  <dcterms:modified xsi:type="dcterms:W3CDTF">2026-04-27T04:10:44Z</dcterms:modified>
</cp:coreProperties>
</file>